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AUDIT  ·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Yangi Davr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B8C9C7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xususiy maktabi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36576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holati, raqobat tahlili,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auditoriya tadqiqi va stratejik tavsiyalar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EGASI VA RAHBARIYAT UCHUN HISOBOT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61996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May,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XULOSA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Vaziyat bir qarashda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Yangi Davr maktabi sifatli ta'lim beradi,
</a:t>
            </a:r>
            <a:r>
              <a:rPr lang="en-US" sz="2200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lekin marketing va sotuv tizimi </a:t>
            </a:r>
            <a:r>
              <a:rPr lang="en-US" sz="22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raqobatdan keskin orqada.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2560320" cy="201168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108960"/>
            <a:ext cx="2560320" cy="73152"/>
          </a:xfrm>
          <a:prstGeom prst="rect">
            <a:avLst/>
          </a:prstGeom>
          <a:solidFill>
            <a:srgbClr val="C84931"/>
          </a:solidFill>
          <a:ln w="12700">
            <a:solidFill>
              <a:srgbClr val="C849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375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8493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196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Raqobatchi: 14,200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108960"/>
            <a:ext cx="2560320" cy="201168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3108960"/>
            <a:ext cx="2560320" cy="73152"/>
          </a:xfrm>
          <a:prstGeom prst="rect">
            <a:avLst/>
          </a:prstGeom>
          <a:solidFill>
            <a:srgbClr val="C84931"/>
          </a:solidFill>
          <a:ln w="12700">
            <a:solidFill>
              <a:srgbClr val="C849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3375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8493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0/10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3566160" y="42062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TIZIMI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45262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Reklama, kontent, follow-up yo'q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2560320" cy="201168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108960"/>
            <a:ext cx="2560320" cy="73152"/>
          </a:xfrm>
          <a:prstGeom prst="rect">
            <a:avLst/>
          </a:prstGeom>
          <a:solidFill>
            <a:srgbClr val="C28B1F"/>
          </a:solidFill>
          <a:ln w="12700">
            <a:solidFill>
              <a:srgbClr val="C28B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3375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28B1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6/10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6400800" y="42062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TIZIMI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45262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Skript bor, follow-up yo'q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3108960"/>
            <a:ext cx="2560320" cy="201168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3108960"/>
            <a:ext cx="256032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33375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89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26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9235440" y="42062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JAVOBLAR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35440" y="45262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segmentdan to'plangan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0F2D2C"/>
          </a:solidFill>
          <a:ln w="12700">
            <a:solidFill>
              <a:srgbClr val="0F2D2C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687568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71600" y="553212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imkoniyat: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Bog'dod tumanida lokal lider bo'lib, qadriyatli zamonaviy ta'lim pozitsiyasini olish — bu niche bo'sh.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Asosiy xulosa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HOZIRGI HOLAT · 1-QISM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Instagram profili: @yangidavr_maktabi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120640" cy="45720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47672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@yangidavr_maktabi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— sifatli ta'lim va tarbiya dargohi!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89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196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331720" y="29718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89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26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331720" y="3520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0" y="29718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89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840480" y="3520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4023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TARKIBI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" y="429768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Zamonaviy muhit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457200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Malakali ustozlar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48463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Issiq tushlik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512064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SAT, IELTS, IT, Milliy sertifikat kafolati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35040" y="173736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Auditda aniqlangan asosiy muammolar</a:t>
            </a:r>
            <a:endParaRPr lang="en-US" sz="14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286000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400800" y="224028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Highlight'lar yo'q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00800" y="253288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Ota-onaning birinchi savollariga javob beradigan tartibli highlight bloklari mavjud emas.</a:t>
            </a:r>
            <a:endParaRPr lang="en-US" sz="10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063240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0800" y="301752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strategiyasi yo'q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400800" y="331012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Postlar tasodifiy — bayramona suratlar, tartibli rubrika va hook'lar yo'q.</a:t>
            </a:r>
            <a:endParaRPr lang="en-US" sz="10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840480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00800" y="379476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past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400800" y="408736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10–40 like, izohlar deyarli yo'q. Algoritm postlarni keng ko'rsatmaydi.</a:t>
            </a:r>
            <a:endParaRPr lang="en-US" sz="105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61772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00800" y="457200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strategiyasi yo'q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400800" y="486460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Qisqa video formatlar deyarli ishlatilmagan — bu eng arzon o'sish kanali.</a:t>
            </a:r>
            <a:endParaRPr lang="en-US" sz="105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394960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400800" y="534924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 qo'yilmagan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400800" y="564184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kontent ham reklama orqali kuchaytirilmagan, organik trafik kam.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Instagram auditi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HOZIRGI HOLAT · 2-QISM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Raqobatchilar bilan yonma-yon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93592" cy="45720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593592" cy="640080"/>
          </a:xfrm>
          <a:prstGeom prst="rect">
            <a:avLst/>
          </a:prstGeom>
          <a:solidFill>
            <a:srgbClr val="0F2D2C"/>
          </a:solidFill>
          <a:ln w="12700">
            <a:solidFill>
              <a:srgbClr val="0F2D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55648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2278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@yangidavr_maktabi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2278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89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196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2278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Postlar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20240" y="3657600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98678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0" y="3986784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10–40 like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3159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20240" y="4315968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USP shakllanmagan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6451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4645152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9743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(taxmin)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20240" y="4974336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5532120"/>
            <a:ext cx="3227832" cy="640080"/>
          </a:xfrm>
          <a:prstGeom prst="rect">
            <a:avLst/>
          </a:prstGeom>
          <a:solidFill>
            <a:srgbClr val="F7F0EB"/>
          </a:solidFill>
        </p:spPr>
      </p:sp>
      <p:sp>
        <p:nvSpPr>
          <p:cNvPr id="22" name="Text 20"/>
          <p:cNvSpPr/>
          <p:nvPr/>
        </p:nvSpPr>
        <p:spPr>
          <a:xfrm>
            <a:off x="822960" y="5577840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84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va sotuv tizimi yo'q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25112" y="1691640"/>
            <a:ext cx="3593592" cy="45720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25112" y="1691640"/>
            <a:ext cx="3593592" cy="640080"/>
          </a:xfrm>
          <a:prstGeom prst="rect">
            <a:avLst/>
          </a:prstGeom>
          <a:solidFill>
            <a:srgbClr val="1E4D2A"/>
          </a:solidFill>
          <a:ln w="12700">
            <a:solidFill>
              <a:srgbClr val="1E4D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1755648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PLATON SCHOOL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07992" y="2057400"/>
            <a:ext cx="32278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@platonschool.uz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07992" y="2514600"/>
            <a:ext cx="32278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D865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14,200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4507992" y="3291840"/>
            <a:ext cx="32278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07992" y="36576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Postlar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96712" y="3657600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07992" y="398678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96712" y="3986784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(~50+)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07992" y="43159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96712" y="4315968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Hammasida kuchli — aniq USP yo'q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07992" y="46451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96712" y="4645152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07992" y="49743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(taxmin)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96712" y="4974336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7/10 (taxmin)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07992" y="5532120"/>
            <a:ext cx="3227832" cy="640080"/>
          </a:xfrm>
          <a:prstGeom prst="rect">
            <a:avLst/>
          </a:prstGeom>
          <a:solidFill>
            <a:srgbClr val="F7F0EB"/>
          </a:solidFill>
        </p:spPr>
      </p:sp>
      <p:sp>
        <p:nvSpPr>
          <p:cNvPr id="40" name="Text 38"/>
          <p:cNvSpPr/>
          <p:nvPr/>
        </p:nvSpPr>
        <p:spPr>
          <a:xfrm>
            <a:off x="4599432" y="5577840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2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 bilan oladi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01584" y="1691640"/>
            <a:ext cx="3593592" cy="45720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01584" y="1691640"/>
            <a:ext cx="3593592" cy="64008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84464" y="1755648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ZAMAXSHARIY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84464" y="2057400"/>
            <a:ext cx="32278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@zamaxshariy_school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84464" y="2514600"/>
            <a:ext cx="32278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719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8284464" y="3291840"/>
            <a:ext cx="32278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84464" y="36576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Postlar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473184" y="3657600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84464" y="398678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473184" y="3986784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like, 27 izoh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284464" y="43159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473184" y="4315968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 til + sun'iy intellekt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284464" y="46451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473184" y="4645152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284464" y="49743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(taxmin)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473184" y="4974336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6/10 (taxmin)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84464" y="5558790"/>
            <a:ext cx="3227832" cy="640080"/>
          </a:xfrm>
          <a:prstGeom prst="rect">
            <a:avLst/>
          </a:prstGeom>
          <a:solidFill>
            <a:srgbClr val="F7F0EB"/>
          </a:solidFill>
        </p:spPr>
      </p:sp>
      <p:sp>
        <p:nvSpPr>
          <p:cNvPr id="58" name="Text 56"/>
          <p:cNvSpPr/>
          <p:nvPr/>
        </p:nvSpPr>
        <p:spPr>
          <a:xfrm>
            <a:off x="8375904" y="5577840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84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bilan oladi — asosiy raqib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Raqobat tahlili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4"/>
          <p:cNvSpPr/>
          <p:nvPr/>
        </p:nvSpPr>
        <p:spPr>
          <a:xfrm>
            <a:off x="10789920" y="3886200"/>
            <a:ext cx="457200" cy="457200"/>
          </a:xfrm>
          <a:prstGeom prst="ellipse">
            <a:avLst/>
          </a:prstGeom>
          <a:solidFill>
            <a:srgbClr val="2D8659"/>
          </a:solidFill>
        </p:spPr>
        <p:txBody>
          <a:bodyPr/>
          <a:p>
            <a:endParaRPr lang="en-US"/>
          </a:p>
        </p:txBody>
      </p:sp>
      <p:sp>
        <p:nvSpPr>
          <p:cNvPr id="92" name="Shape 60"/>
          <p:cNvSpPr/>
          <p:nvPr/>
        </p:nvSpPr>
        <p:spPr>
          <a:xfrm>
            <a:off x="10789920" y="3886200"/>
            <a:ext cx="457200" cy="457200"/>
          </a:xfrm>
          <a:prstGeom prst="ellipse">
            <a:avLst/>
          </a:prstGeom>
          <a:solidFill>
            <a:srgbClr val="C84931"/>
          </a:solidFill>
        </p:spPr>
      </p:sp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SOTUV TIZIMI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Yetuklik darajasi (0–10 shkala)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486400" cy="466344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TIZIMI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493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</a:t>
            </a:r>
            <a:r>
              <a:rPr lang="en-US" sz="16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 score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21945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Brending va vizual identitet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0" y="3337560"/>
            <a:ext cx="457200" cy="457200"/>
          </a:xfrm>
          <a:prstGeom prst="ellipse">
            <a:avLst/>
          </a:prstGeom>
          <a:solidFill>
            <a:srgbClr val="C84931"/>
          </a:solidFill>
        </p:spPr>
      </p:sp>
      <p:sp>
        <p:nvSpPr>
          <p:cNvPr id="14" name="Text 12"/>
          <p:cNvSpPr/>
          <p:nvPr/>
        </p:nvSpPr>
        <p:spPr>
          <a:xfrm>
            <a:off x="3657600" y="3337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3337560"/>
            <a:ext cx="457200" cy="457200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16" name="Text 14"/>
          <p:cNvSpPr/>
          <p:nvPr/>
        </p:nvSpPr>
        <p:spPr>
          <a:xfrm>
            <a:off x="4389120" y="3337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20640" y="3337560"/>
            <a:ext cx="457200" cy="457200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18" name="Text 16"/>
          <p:cNvSpPr/>
          <p:nvPr/>
        </p:nvSpPr>
        <p:spPr>
          <a:xfrm>
            <a:off x="5120640" y="3337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840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strategiyasi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3886200"/>
            <a:ext cx="457200" cy="457200"/>
          </a:xfrm>
          <a:prstGeom prst="ellipse">
            <a:avLst/>
          </a:prstGeom>
          <a:solidFill>
            <a:srgbClr val="C84931"/>
          </a:solidFill>
        </p:spPr>
      </p:sp>
      <p:sp>
        <p:nvSpPr>
          <p:cNvPr id="21" name="Text 19"/>
          <p:cNvSpPr/>
          <p:nvPr/>
        </p:nvSpPr>
        <p:spPr>
          <a:xfrm>
            <a:off x="3657600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0" y="3886200"/>
            <a:ext cx="457200" cy="457200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23" name="Text 21"/>
          <p:cNvSpPr/>
          <p:nvPr/>
        </p:nvSpPr>
        <p:spPr>
          <a:xfrm>
            <a:off x="4389120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3886200"/>
            <a:ext cx="457200" cy="457200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25" name="Text 23"/>
          <p:cNvSpPr/>
          <p:nvPr/>
        </p:nvSpPr>
        <p:spPr>
          <a:xfrm>
            <a:off x="5120640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43891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va short-form video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0" y="4434840"/>
            <a:ext cx="457200" cy="457200"/>
          </a:xfrm>
          <a:prstGeom prst="ellipse">
            <a:avLst/>
          </a:prstGeom>
          <a:solidFill>
            <a:srgbClr val="C84931"/>
          </a:solidFill>
        </p:spPr>
      </p:sp>
      <p:sp>
        <p:nvSpPr>
          <p:cNvPr id="28" name="Text 26"/>
          <p:cNvSpPr/>
          <p:nvPr/>
        </p:nvSpPr>
        <p:spPr>
          <a:xfrm>
            <a:off x="3657600" y="4434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9120" y="4434840"/>
            <a:ext cx="457200" cy="457200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30" name="Text 28"/>
          <p:cNvSpPr/>
          <p:nvPr/>
        </p:nvSpPr>
        <p:spPr>
          <a:xfrm>
            <a:off x="4389120" y="4434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120640" y="4434840"/>
            <a:ext cx="457200" cy="457200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32" name="Text 30"/>
          <p:cNvSpPr/>
          <p:nvPr/>
        </p:nvSpPr>
        <p:spPr>
          <a:xfrm>
            <a:off x="5120640" y="4434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49377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reklama (ads)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0" y="4983480"/>
            <a:ext cx="457200" cy="457200"/>
          </a:xfrm>
          <a:prstGeom prst="ellipse">
            <a:avLst/>
          </a:prstGeom>
          <a:solidFill>
            <a:srgbClr val="C84931"/>
          </a:solidFill>
        </p:spPr>
      </p:sp>
      <p:sp>
        <p:nvSpPr>
          <p:cNvPr id="35" name="Text 33"/>
          <p:cNvSpPr/>
          <p:nvPr/>
        </p:nvSpPr>
        <p:spPr>
          <a:xfrm>
            <a:off x="3657600" y="4983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389120" y="4983480"/>
            <a:ext cx="457200" cy="457200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37" name="Text 35"/>
          <p:cNvSpPr/>
          <p:nvPr/>
        </p:nvSpPr>
        <p:spPr>
          <a:xfrm>
            <a:off x="4389120" y="4983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120640" y="4983480"/>
            <a:ext cx="457200" cy="457200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39" name="Text 37"/>
          <p:cNvSpPr/>
          <p:nvPr/>
        </p:nvSpPr>
        <p:spPr>
          <a:xfrm>
            <a:off x="5120640" y="4983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54864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 jamoasi va tizim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0" y="5532120"/>
            <a:ext cx="457200" cy="457200"/>
          </a:xfrm>
          <a:prstGeom prst="ellipse">
            <a:avLst/>
          </a:prstGeom>
          <a:solidFill>
            <a:srgbClr val="C84931"/>
          </a:solidFill>
        </p:spPr>
      </p:sp>
      <p:sp>
        <p:nvSpPr>
          <p:cNvPr id="42" name="Text 40"/>
          <p:cNvSpPr/>
          <p:nvPr/>
        </p:nvSpPr>
        <p:spPr>
          <a:xfrm>
            <a:off x="3657600" y="5532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389120" y="5532120"/>
            <a:ext cx="457200" cy="457200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44" name="Text 42"/>
          <p:cNvSpPr/>
          <p:nvPr/>
        </p:nvSpPr>
        <p:spPr>
          <a:xfrm>
            <a:off x="4389120" y="5532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120640" y="5532120"/>
            <a:ext cx="457200" cy="457200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46" name="Text 44"/>
          <p:cNvSpPr/>
          <p:nvPr/>
        </p:nvSpPr>
        <p:spPr>
          <a:xfrm>
            <a:off x="5120640" y="5532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92240" y="1783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TIZIMI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92240" y="210312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28B1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6</a:t>
            </a:r>
            <a:r>
              <a:rPr lang="en-US" sz="16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</a:t>
            </a:r>
            <a:endParaRPr lang="en-US" sz="4000" dirty="0"/>
          </a:p>
        </p:txBody>
      </p:sp>
      <p:sp>
        <p:nvSpPr>
          <p:cNvPr id="50" name="Text 48"/>
          <p:cNvSpPr/>
          <p:nvPr/>
        </p:nvSpPr>
        <p:spPr>
          <a:xfrm>
            <a:off x="6492240" y="2880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 score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326880" y="21945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58400" y="21945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789920" y="21945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92240" y="3291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Skript va savol-javob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326880" y="3337560"/>
            <a:ext cx="457200" cy="457200"/>
          </a:xfrm>
          <a:prstGeom prst="ellipse">
            <a:avLst/>
          </a:prstGeom>
          <a:solidFill>
            <a:srgbClr val="C28B1F"/>
          </a:solidFill>
        </p:spPr>
      </p:sp>
      <p:sp>
        <p:nvSpPr>
          <p:cNvPr id="56" name="Text 54"/>
          <p:cNvSpPr/>
          <p:nvPr/>
        </p:nvSpPr>
        <p:spPr>
          <a:xfrm>
            <a:off x="9326880" y="3337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0058400" y="3337560"/>
            <a:ext cx="457200" cy="457200"/>
          </a:xfrm>
          <a:prstGeom prst="ellipse">
            <a:avLst/>
          </a:prstGeom>
          <a:solidFill>
            <a:srgbClr val="2D8659"/>
          </a:solidFill>
        </p:spPr>
      </p:sp>
      <p:sp>
        <p:nvSpPr>
          <p:cNvPr id="58" name="Text 56"/>
          <p:cNvSpPr/>
          <p:nvPr/>
        </p:nvSpPr>
        <p:spPr>
          <a:xfrm>
            <a:off x="10058400" y="3337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10789920" y="3337560"/>
            <a:ext cx="457200" cy="457200"/>
          </a:xfrm>
          <a:prstGeom prst="ellipse">
            <a:avLst/>
          </a:prstGeom>
          <a:solidFill>
            <a:srgbClr val="C28B1F"/>
          </a:solidFill>
        </p:spPr>
      </p:sp>
      <p:sp>
        <p:nvSpPr>
          <p:cNvPr id="60" name="Text 58"/>
          <p:cNvSpPr/>
          <p:nvPr/>
        </p:nvSpPr>
        <p:spPr>
          <a:xfrm>
            <a:off x="10789920" y="3337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492240" y="3840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tizimi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326880" y="3886200"/>
            <a:ext cx="457200" cy="4572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63" name="Text 61"/>
          <p:cNvSpPr/>
          <p:nvPr/>
        </p:nvSpPr>
        <p:spPr>
          <a:xfrm>
            <a:off x="9326880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0789920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6492240" y="43891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va lid bazasi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9326880" y="4434840"/>
            <a:ext cx="457200" cy="4572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70" name="Text 68"/>
          <p:cNvSpPr/>
          <p:nvPr/>
        </p:nvSpPr>
        <p:spPr>
          <a:xfrm>
            <a:off x="9326880" y="4434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10058400" y="4434840"/>
            <a:ext cx="457200" cy="457200"/>
          </a:xfrm>
          <a:prstGeom prst="ellipse">
            <a:avLst/>
          </a:prstGeom>
          <a:solidFill>
            <a:srgbClr val="C28B1F"/>
          </a:solidFill>
        </p:spPr>
      </p:sp>
      <p:sp>
        <p:nvSpPr>
          <p:cNvPr id="72" name="Text 70"/>
          <p:cNvSpPr/>
          <p:nvPr/>
        </p:nvSpPr>
        <p:spPr>
          <a:xfrm>
            <a:off x="10058400" y="4434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0789920" y="4434840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txBody>
          <a:bodyPr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0789920" y="4434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6492240" y="49377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Konversiya kuzatuvi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9326880" y="4983480"/>
            <a:ext cx="457200" cy="4572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77" name="Text 75"/>
          <p:cNvSpPr/>
          <p:nvPr/>
        </p:nvSpPr>
        <p:spPr>
          <a:xfrm>
            <a:off x="9326880" y="4983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0058400" y="4983480"/>
            <a:ext cx="457200" cy="4572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79" name="Text 77"/>
          <p:cNvSpPr/>
          <p:nvPr/>
        </p:nvSpPr>
        <p:spPr>
          <a:xfrm>
            <a:off x="10058400" y="4983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0789920" y="4983480"/>
            <a:ext cx="457200" cy="4572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81" name="Text 79"/>
          <p:cNvSpPr/>
          <p:nvPr/>
        </p:nvSpPr>
        <p:spPr>
          <a:xfrm>
            <a:off x="10789920" y="4983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2" name="Text 80"/>
          <p:cNvSpPr/>
          <p:nvPr/>
        </p:nvSpPr>
        <p:spPr>
          <a:xfrm>
            <a:off x="6492240" y="54864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Sotuvchilar tayyorgarligi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9326880" y="5532120"/>
            <a:ext cx="457200" cy="457200"/>
          </a:xfrm>
          <a:prstGeom prst="ellipse">
            <a:avLst/>
          </a:prstGeom>
          <a:solidFill>
            <a:srgbClr val="C28B1F"/>
          </a:solidFill>
        </p:spPr>
      </p:sp>
      <p:sp>
        <p:nvSpPr>
          <p:cNvPr id="84" name="Text 82"/>
          <p:cNvSpPr/>
          <p:nvPr/>
        </p:nvSpPr>
        <p:spPr>
          <a:xfrm>
            <a:off x="9326880" y="5532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10058400" y="5532120"/>
            <a:ext cx="457200" cy="457200"/>
          </a:xfrm>
          <a:prstGeom prst="ellipse">
            <a:avLst/>
          </a:prstGeom>
          <a:solidFill>
            <a:srgbClr val="C28B1F"/>
          </a:solidFill>
        </p:spPr>
      </p:sp>
      <p:sp>
        <p:nvSpPr>
          <p:cNvPr id="86" name="Text 84"/>
          <p:cNvSpPr/>
          <p:nvPr/>
        </p:nvSpPr>
        <p:spPr>
          <a:xfrm>
            <a:off x="10058400" y="5532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10789920" y="5532120"/>
            <a:ext cx="457200" cy="457200"/>
          </a:xfrm>
          <a:prstGeom prst="ellipse">
            <a:avLst/>
          </a:prstGeom>
          <a:solidFill>
            <a:srgbClr val="C28B1F"/>
          </a:solidFill>
        </p:spPr>
      </p:sp>
      <p:sp>
        <p:nvSpPr>
          <p:cNvPr id="88" name="Text 86"/>
          <p:cNvSpPr/>
          <p:nvPr/>
        </p:nvSpPr>
        <p:spPr>
          <a:xfrm>
            <a:off x="10789920" y="5532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Yetuklik darajasi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800" dirty="0"/>
          </a:p>
        </p:txBody>
      </p:sp>
      <p:sp>
        <p:nvSpPr>
          <p:cNvPr id="91" name="Shape 60"/>
          <p:cNvSpPr/>
          <p:nvPr/>
        </p:nvSpPr>
        <p:spPr>
          <a:xfrm>
            <a:off x="10058400" y="3886200"/>
            <a:ext cx="457200" cy="457200"/>
          </a:xfrm>
          <a:prstGeom prst="ellipse">
            <a:avLst/>
          </a:prstGeom>
          <a:solidFill>
            <a:srgbClr val="C00000"/>
          </a:solidFill>
        </p:spPr>
        <p:txBody>
          <a:bodyPr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0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</p:txBody>
      </p:sp>
      <p:sp>
        <p:nvSpPr>
          <p:cNvPr id="93" name="Shape 60"/>
          <p:cNvSpPr/>
          <p:nvPr/>
        </p:nvSpPr>
        <p:spPr>
          <a:xfrm>
            <a:off x="10789920" y="3886200"/>
            <a:ext cx="457200" cy="457200"/>
          </a:xfrm>
          <a:prstGeom prst="ellipse">
            <a:avLst/>
          </a:prstGeom>
          <a:solidFill>
            <a:srgbClr val="C00000"/>
          </a:solidFill>
        </p:spPr>
        <p:txBody>
          <a:bodyPr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0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AUDITORIYA TADQIQI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So'rovnoma — umumiy ko'rinish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segment uchun alohida Google forma orqali so'rovnoma o'tkazildi.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ta javob qabul qilindi.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593592" cy="32004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97480"/>
            <a:ext cx="137160" cy="3200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803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1–4 sinf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Ota-onalar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313639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0089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15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914400" y="4754880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javob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5166360"/>
            <a:ext cx="2862072" cy="3657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257800"/>
            <a:ext cx="313639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segment — eng faol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5112" y="2697480"/>
            <a:ext cx="3593592" cy="32004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5112" y="2697480"/>
            <a:ext cx="137160" cy="320040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28803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5–8 sinf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90872" y="3337560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Ota-onalar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0872" y="3794760"/>
            <a:ext cx="313639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</a:t>
            </a:r>
            <a:endParaRPr lang="en-US" sz="6200" dirty="0"/>
          </a:p>
        </p:txBody>
      </p:sp>
      <p:sp>
        <p:nvSpPr>
          <p:cNvPr id="19" name="Text 17"/>
          <p:cNvSpPr/>
          <p:nvPr/>
        </p:nvSpPr>
        <p:spPr>
          <a:xfrm>
            <a:off x="4690872" y="4754880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javob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90872" y="5166360"/>
            <a:ext cx="2862072" cy="3657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5257800"/>
            <a:ext cx="313639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va imtihon dolzarb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01584" y="2697480"/>
            <a:ext cx="3593592" cy="32004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01584" y="2697480"/>
            <a:ext cx="137160" cy="3200400"/>
          </a:xfrm>
          <a:prstGeom prst="rect">
            <a:avLst/>
          </a:prstGeom>
          <a:solidFill>
            <a:srgbClr val="C84931"/>
          </a:solidFill>
          <a:ln w="12700">
            <a:solidFill>
              <a:srgbClr val="C849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67344" y="28803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9–11 sinf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67344" y="3337560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Ota-onalar / o'quvchi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67344" y="3794760"/>
            <a:ext cx="313639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C8493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6200" dirty="0"/>
          </a:p>
        </p:txBody>
      </p:sp>
      <p:sp>
        <p:nvSpPr>
          <p:cNvPr id="27" name="Text 25"/>
          <p:cNvSpPr/>
          <p:nvPr/>
        </p:nvSpPr>
        <p:spPr>
          <a:xfrm>
            <a:off x="8467344" y="4754880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javob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67344" y="5166360"/>
            <a:ext cx="2862072" cy="3657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67344" y="5257800"/>
            <a:ext cx="313639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Diqqat: javob deyarli yo'q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solidFill>
            <a:srgbClr val="FBF3E8"/>
          </a:solidFill>
          <a:ln w="12700">
            <a:solidFill>
              <a:srgbClr val="C28B1F"/>
            </a:solidFill>
            <a:prstDash val="solid"/>
          </a:ln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99632"/>
            <a:ext cx="228600" cy="2286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97280" y="608076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9–11 sinf javoblari deyarli yo'q — bu segmentni qaytadan so'rovnomaga jalb qilish kerak.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Auditoriya — umumiy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· 1-QISM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1–4 sinf ota-onalari (15 ta javob)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MAKTABNI TANLASH SABABLARI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Ta'lim sifati davlat maktabidan yuqori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572000" cy="146304"/>
          </a:xfrm>
          <a:prstGeom prst="rect">
            <a:avLst/>
          </a:prstGeom>
          <a:solidFill>
            <a:srgbClr val="E8E2D2"/>
          </a:solidFill>
        </p:spPr>
      </p:sp>
      <p:sp>
        <p:nvSpPr>
          <p:cNvPr id="8" name="Shape 6"/>
          <p:cNvSpPr/>
          <p:nvPr/>
        </p:nvSpPr>
        <p:spPr>
          <a:xfrm>
            <a:off x="548640" y="2350008"/>
            <a:ext cx="3337560" cy="146304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9" name="Text 7"/>
          <p:cNvSpPr/>
          <p:nvPr/>
        </p:nvSpPr>
        <p:spPr>
          <a:xfrm>
            <a:off x="5212080" y="20574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sinflar (individual yondashuv)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4572000" cy="146304"/>
          </a:xfrm>
          <a:prstGeom prst="rect">
            <a:avLst/>
          </a:prstGeom>
          <a:solidFill>
            <a:srgbClr val="E8E2D2"/>
          </a:solidFill>
        </p:spPr>
      </p:sp>
      <p:sp>
        <p:nvSpPr>
          <p:cNvPr id="12" name="Shape 10"/>
          <p:cNvSpPr/>
          <p:nvPr/>
        </p:nvSpPr>
        <p:spPr>
          <a:xfrm>
            <a:off x="548640" y="2852928"/>
            <a:ext cx="2423160" cy="146304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13" name="Text 11"/>
          <p:cNvSpPr/>
          <p:nvPr/>
        </p:nvSpPr>
        <p:spPr>
          <a:xfrm>
            <a:off x="5212080" y="25603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 tillari chuqur o'rgatilishi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4572000" cy="146304"/>
          </a:xfrm>
          <a:prstGeom prst="rect">
            <a:avLst/>
          </a:prstGeom>
          <a:solidFill>
            <a:srgbClr val="E8E2D2"/>
          </a:solidFill>
        </p:spPr>
      </p:sp>
      <p:sp>
        <p:nvSpPr>
          <p:cNvPr id="16" name="Shape 14"/>
          <p:cNvSpPr/>
          <p:nvPr/>
        </p:nvSpPr>
        <p:spPr>
          <a:xfrm>
            <a:off x="548640" y="3355848"/>
            <a:ext cx="2148840" cy="146304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17" name="Text 15"/>
          <p:cNvSpPr/>
          <p:nvPr/>
        </p:nvSpPr>
        <p:spPr>
          <a:xfrm>
            <a:off x="5212080" y="3063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 va qulay muhit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58768"/>
            <a:ext cx="4572000" cy="146304"/>
          </a:xfrm>
          <a:prstGeom prst="rect">
            <a:avLst/>
          </a:prstGeom>
          <a:solidFill>
            <a:srgbClr val="E8E2D2"/>
          </a:solidFill>
        </p:spPr>
      </p:sp>
      <p:sp>
        <p:nvSpPr>
          <p:cNvPr id="20" name="Shape 18"/>
          <p:cNvSpPr/>
          <p:nvPr/>
        </p:nvSpPr>
        <p:spPr>
          <a:xfrm>
            <a:off x="548640" y="3858768"/>
            <a:ext cx="1234440" cy="146304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21" name="Text 19"/>
          <p:cNvSpPr/>
          <p:nvPr/>
        </p:nvSpPr>
        <p:spPr>
          <a:xfrm>
            <a:off x="5212080" y="35661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069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Do'stlar/tanishlar tavsiyasi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361688"/>
            <a:ext cx="4572000" cy="146304"/>
          </a:xfrm>
          <a:prstGeom prst="rect">
            <a:avLst/>
          </a:prstGeom>
          <a:solidFill>
            <a:srgbClr val="E8E2D2"/>
          </a:solidFill>
        </p:spPr>
      </p:sp>
      <p:sp>
        <p:nvSpPr>
          <p:cNvPr id="24" name="Shape 22"/>
          <p:cNvSpPr/>
          <p:nvPr/>
        </p:nvSpPr>
        <p:spPr>
          <a:xfrm>
            <a:off x="548640" y="4361688"/>
            <a:ext cx="594360" cy="146304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25" name="Text 23"/>
          <p:cNvSpPr/>
          <p:nvPr/>
        </p:nvSpPr>
        <p:spPr>
          <a:xfrm>
            <a:off x="5212080" y="4069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KO'P UCHRAGAN MUMMOLAR</a:t>
            </a:r>
            <a:endParaRPr lang="en-US" sz="10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03120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583680" y="207568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maydonchasi yo'qligi</a:t>
            </a:r>
            <a:endParaRPr lang="en-US" sz="11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514600"/>
            <a:ext cx="201168" cy="2011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583680" y="24871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Eskicha yondashuv (ba'zilarda)</a:t>
            </a:r>
            <a:endParaRPr lang="en-US" sz="115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926080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583680" y="289864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 turargoh va sanitariya holati</a:t>
            </a:r>
            <a:endParaRPr lang="en-US" sz="115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337560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583680" y="33101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rus tiliga qiynalishi</a:t>
            </a:r>
            <a:endParaRPr lang="en-US" sz="11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749040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583680" y="37216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narxi oshib bormoqda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548640" y="5120640"/>
            <a:ext cx="2560320" cy="118872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731520" y="5257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8.4</a:t>
            </a:r>
            <a:endParaRPr lang="en-US" sz="2600" dirty="0"/>
          </a:p>
        </p:txBody>
      </p:sp>
      <p:sp>
        <p:nvSpPr>
          <p:cNvPr id="39" name="Text 32"/>
          <p:cNvSpPr/>
          <p:nvPr/>
        </p:nvSpPr>
        <p:spPr>
          <a:xfrm>
            <a:off x="731520" y="57607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mamnunlik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731520" y="5989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 shkala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3383280" y="5120640"/>
            <a:ext cx="2560320" cy="118872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3566160" y="5257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73%</a:t>
            </a:r>
            <a:endParaRPr lang="en-US" sz="2600" dirty="0"/>
          </a:p>
        </p:txBody>
      </p:sp>
      <p:sp>
        <p:nvSpPr>
          <p:cNvPr id="43" name="Text 36"/>
          <p:cNvSpPr/>
          <p:nvPr/>
        </p:nvSpPr>
        <p:spPr>
          <a:xfrm>
            <a:off x="3566160" y="57607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tavsiya qiladi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3566160" y="5989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 ota-onalarga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6217920" y="5120640"/>
            <a:ext cx="2560320" cy="118872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39"/>
          <p:cNvSpPr/>
          <p:nvPr/>
        </p:nvSpPr>
        <p:spPr>
          <a:xfrm>
            <a:off x="6400800" y="5257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800K</a:t>
            </a:r>
            <a:endParaRPr lang="en-US" sz="2600" dirty="0"/>
          </a:p>
        </p:txBody>
      </p:sp>
      <p:sp>
        <p:nvSpPr>
          <p:cNvPr id="47" name="Text 40"/>
          <p:cNvSpPr/>
          <p:nvPr/>
        </p:nvSpPr>
        <p:spPr>
          <a:xfrm>
            <a:off x="6400800" y="57607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to'lov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6400800" y="5989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sumda, oyiga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9052560" y="5120640"/>
            <a:ext cx="2560320" cy="118872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Text 43"/>
          <p:cNvSpPr/>
          <p:nvPr/>
        </p:nvSpPr>
        <p:spPr>
          <a:xfrm>
            <a:off x="9235440" y="5257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47%</a:t>
            </a:r>
            <a:endParaRPr lang="en-US" sz="2600" dirty="0"/>
          </a:p>
        </p:txBody>
      </p:sp>
      <p:sp>
        <p:nvSpPr>
          <p:cNvPr id="51" name="Text 44"/>
          <p:cNvSpPr/>
          <p:nvPr/>
        </p:nvSpPr>
        <p:spPr>
          <a:xfrm>
            <a:off x="9235440" y="57607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oladi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9235440" y="5989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 ota-onalardan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Segment 1–4 sinf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· 2-QISM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5–8 sinf ota-onalari (10 ta javob)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FARZANDDA SEZILGAN O'ZGARISHLAR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0756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darajasi va fikrlash o'sgan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5328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O'qishga ishtiyoq oshgan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9900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Tarbiyali bo'lib qolgan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7472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34472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bilimlar olgan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3192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39044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Ba'zilarida: kam o'zgarish (kadrlar barqaror emas)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630936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OTA-ONALAR ENG KO'P SO</a:t>
            </a:r>
            <a:r>
              <a:rPr lang="ko-KR" altLang="en-US" sz="1000" b="1" kern="0" spc="4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</a:t>
            </a:r>
            <a:r>
              <a:rPr lang="en-US" altLang="ko-KR" sz="1000" b="1" kern="0" spc="4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1000" b="1" kern="0" spc="4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NARSALAR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629400" y="20756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Tajribali o'qituvchilarni saqlab qolish</a:t>
            </a:r>
            <a:endParaRPr lang="en-US" sz="11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560320"/>
            <a:ext cx="228600" cy="2286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629400" y="25328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 kompyuter va dasturlash darslari</a:t>
            </a:r>
            <a:endParaRPr lang="en-US" sz="11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017520"/>
            <a:ext cx="228600" cy="2286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629400" y="29900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Chuqurroq bilim va kuchli darslar</a:t>
            </a:r>
            <a:endParaRPr lang="en-US" sz="11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474720"/>
            <a:ext cx="228600" cy="2286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629400" y="34472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Olimpiada va sertifikatlarga tayyorlov</a:t>
            </a:r>
            <a:endParaRPr lang="en-US" sz="11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31920"/>
            <a:ext cx="228600" cy="2286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629400" y="39044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Bloklarga ko'ra fanlarni ajratish</a:t>
            </a:r>
            <a:endParaRPr lang="en-US" sz="1150" dirty="0"/>
          </a:p>
        </p:txBody>
      </p:sp>
      <p:sp>
        <p:nvSpPr>
          <p:cNvPr id="27" name="Shape 15"/>
          <p:cNvSpPr/>
          <p:nvPr/>
        </p:nvSpPr>
        <p:spPr>
          <a:xfrm>
            <a:off x="548640" y="5120640"/>
            <a:ext cx="2560320" cy="118872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16"/>
          <p:cNvSpPr/>
          <p:nvPr/>
        </p:nvSpPr>
        <p:spPr>
          <a:xfrm>
            <a:off x="731520" y="5257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7.2</a:t>
            </a:r>
            <a:endParaRPr lang="en-US" sz="2600" dirty="0"/>
          </a:p>
        </p:txBody>
      </p:sp>
      <p:sp>
        <p:nvSpPr>
          <p:cNvPr id="29" name="Text 17"/>
          <p:cNvSpPr/>
          <p:nvPr/>
        </p:nvSpPr>
        <p:spPr>
          <a:xfrm>
            <a:off x="731520" y="57607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mamnunlik</a:t>
            </a:r>
            <a:endParaRPr lang="en-US" sz="1000" dirty="0"/>
          </a:p>
        </p:txBody>
      </p:sp>
      <p:sp>
        <p:nvSpPr>
          <p:cNvPr id="30" name="Text 18"/>
          <p:cNvSpPr/>
          <p:nvPr/>
        </p:nvSpPr>
        <p:spPr>
          <a:xfrm>
            <a:off x="731520" y="5989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 shkala</a:t>
            </a:r>
            <a:endParaRPr lang="en-US" sz="900" dirty="0"/>
          </a:p>
        </p:txBody>
      </p:sp>
      <p:sp>
        <p:nvSpPr>
          <p:cNvPr id="31" name="Shape 19"/>
          <p:cNvSpPr/>
          <p:nvPr/>
        </p:nvSpPr>
        <p:spPr>
          <a:xfrm>
            <a:off x="3383280" y="5120640"/>
            <a:ext cx="2560320" cy="118872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20"/>
          <p:cNvSpPr/>
          <p:nvPr/>
        </p:nvSpPr>
        <p:spPr>
          <a:xfrm>
            <a:off x="3566160" y="5257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80%</a:t>
            </a:r>
            <a:endParaRPr lang="en-US" sz="2600" dirty="0"/>
          </a:p>
        </p:txBody>
      </p:sp>
      <p:sp>
        <p:nvSpPr>
          <p:cNvPr id="33" name="Text 21"/>
          <p:cNvSpPr/>
          <p:nvPr/>
        </p:nvSpPr>
        <p:spPr>
          <a:xfrm>
            <a:off x="3566160" y="57607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tavsiya qiladi</a:t>
            </a:r>
            <a:endParaRPr lang="en-US" sz="1000" dirty="0"/>
          </a:p>
        </p:txBody>
      </p:sp>
      <p:sp>
        <p:nvSpPr>
          <p:cNvPr id="34" name="Text 22"/>
          <p:cNvSpPr/>
          <p:nvPr/>
        </p:nvSpPr>
        <p:spPr>
          <a:xfrm>
            <a:off x="3566160" y="5989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 ota-onalarga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6217920" y="5120640"/>
            <a:ext cx="2560320" cy="118872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24"/>
          <p:cNvSpPr/>
          <p:nvPr/>
        </p:nvSpPr>
        <p:spPr>
          <a:xfrm>
            <a:off x="6400800" y="5257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1.1M</a:t>
            </a:r>
            <a:endParaRPr lang="en-US" sz="2600" dirty="0"/>
          </a:p>
        </p:txBody>
      </p:sp>
      <p:sp>
        <p:nvSpPr>
          <p:cNvPr id="37" name="Text 25"/>
          <p:cNvSpPr/>
          <p:nvPr/>
        </p:nvSpPr>
        <p:spPr>
          <a:xfrm>
            <a:off x="6400800" y="57607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to'lov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6400800" y="5989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sumda, oyiga</a:t>
            </a:r>
            <a:endParaRPr lang="en-US" sz="900" dirty="0"/>
          </a:p>
        </p:txBody>
      </p:sp>
      <p:sp>
        <p:nvSpPr>
          <p:cNvPr id="39" name="Shape 27"/>
          <p:cNvSpPr/>
          <p:nvPr/>
        </p:nvSpPr>
        <p:spPr>
          <a:xfrm>
            <a:off x="9052560" y="5120640"/>
            <a:ext cx="2560320" cy="118872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28"/>
          <p:cNvSpPr/>
          <p:nvPr/>
        </p:nvSpPr>
        <p:spPr>
          <a:xfrm>
            <a:off x="9235440" y="5257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60%</a:t>
            </a:r>
            <a:endParaRPr lang="en-US" sz="2600" dirty="0"/>
          </a:p>
        </p:txBody>
      </p:sp>
      <p:sp>
        <p:nvSpPr>
          <p:cNvPr id="41" name="Text 29"/>
          <p:cNvSpPr/>
          <p:nvPr/>
        </p:nvSpPr>
        <p:spPr>
          <a:xfrm>
            <a:off x="9235440" y="57607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orqali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9235440" y="5989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izlashadi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Segment 5–8 sinf</a:t>
            </a:r>
            <a:endParaRPr lang="en-US" sz="800" dirty="0"/>
          </a:p>
        </p:txBody>
      </p:sp>
      <p:sp>
        <p:nvSpPr>
          <p:cNvPr id="44" name="Text 32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· 3-QISM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9–11 sinf va to'lov tahlili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1340" y="1691640"/>
            <a:ext cx="5486400" cy="45720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37160" cy="4572000"/>
          </a:xfrm>
          <a:prstGeom prst="rect">
            <a:avLst/>
          </a:prstGeom>
          <a:solidFill>
            <a:srgbClr val="C84931"/>
          </a:solidFill>
          <a:ln w="12700">
            <a:solidFill>
              <a:srgbClr val="C849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9–11 sinf — ma'lumot yetishmovchiligi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1 ta javob qabul qilindi. Bu — sezilarli signal.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SABABLAR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 segmentda o'quvchilar soni juda kam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9–11 sinf ota-onalari bilan aloqa kanali yaxshi emas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0233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So'rovnoma noto'g'ri kanal orqali yuborilgan bo'lishi mumkin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43484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 yoshdagi farzandlar maktabni o'zgartirish arafasida bo'lishi mumkin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5029200"/>
            <a:ext cx="4937760" cy="1005840"/>
          </a:xfrm>
          <a:prstGeom prst="rect">
            <a:avLst/>
          </a:prstGeom>
          <a:solidFill>
            <a:srgbClr val="FBE9E5"/>
          </a:solidFill>
        </p:spPr>
      </p:sp>
      <p:sp>
        <p:nvSpPr>
          <p:cNvPr id="15" name="Text 13"/>
          <p:cNvSpPr/>
          <p:nvPr/>
        </p:nvSpPr>
        <p:spPr>
          <a:xfrm>
            <a:off x="1005840" y="51206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4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534924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Direktor orqali bevosita yig'ilish o'tkazib, 9–11 sinf ota-onalaridan og'zaki feedback yig'ish. Bu segment uchun alohida strategiya kerak.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691640"/>
            <a:ext cx="5303520" cy="45720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7452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949440" y="18745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Ota-onalar to'lashga tayyor summa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92240" y="23317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Javoblardan ko'ringani bo'yicha o'rtacha summalar: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92240" y="28803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sinf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92240" y="3154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0.8–1.2M so'm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92240" y="36576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sinf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92240" y="39319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1.0–1.5M so'm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92240" y="44348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9–11 sinf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92240" y="47091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≈ 1M so'm (1 javob)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solidFill>
            <a:srgbClr val="EAF5F0"/>
          </a:solidFill>
        </p:spPr>
      </p:sp>
      <p:sp>
        <p:nvSpPr>
          <p:cNvPr id="28" name="Text 25"/>
          <p:cNvSpPr/>
          <p:nvPr/>
        </p:nvSpPr>
        <p:spPr>
          <a:xfrm>
            <a:off x="6629400" y="528523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SIGNAL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629400" y="553212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Ota-onalar narx oshishidan tashvishlanmoqda. Kuchli va haqiqiy qiymat (value) yetkazish — narx ko'tarishdan oldin bajariladigan birinchi vazifa.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9–11 sinf va narx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SO'ROVNOMALAR YIG'INDISI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Ota-onalardan 5 ta asosiy xulosa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93592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2880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3639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ustun, lekin aniq emas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3639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tanlov sababi: "davlat maktabidan yuqori sifat". Lekin bu nimani anglatishi mijoz uchun ham aniq emas — siz ham aniq ko'rsatib bermayapsiz.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93592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182880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53712" y="2377440"/>
            <a:ext cx="313639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Og'zaki marketing kuchli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2926080"/>
            <a:ext cx="313639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Ko'pchilik ma'lumotni "boshqa ota-onalardan" oladi. Bu kuchli signal: mavjud mijoz tajribasi sizning eng arzon va eng samarali kanal.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1584" y="1691640"/>
            <a:ext cx="3593592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30184" y="182880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30184" y="2377440"/>
            <a:ext cx="313639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Instagram'dan ko'ra Telegram kuchli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0184" y="2926080"/>
            <a:ext cx="313639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sinf ota-onalarining 60% Telegram orqali maktab izlaydi. Lekin sizning Telegram kanalingiz aktiv emas — bu yo'qotilgan imkoniyat.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36876" y="4023360"/>
            <a:ext cx="3593592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65476" y="41605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665476" y="4709160"/>
            <a:ext cx="313639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Kadrlar barqaror emas — bosh muammo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65476" y="5257800"/>
            <a:ext cx="313639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ko'p shikoyat: "O'qituvchi tez-tez o'zgaradi", "Tajribali ustozlar yetishmaydi". Bu — har bir segment bo'yicha takrorlanmoqda.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3348" y="4023360"/>
            <a:ext cx="3593592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1948" y="41605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41948" y="4709160"/>
            <a:ext cx="313639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va IT — bo'sh ehtiyojlar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1948" y="5257800"/>
            <a:ext cx="313639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sinflarda IT, dasturlash, sport maydonchasi tilashlari kuchli. Hech bir raqobatchi ham bu yo'nalishlarni to'liq qoplamayapti.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Asosiy xulosalar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 POZITSIYASI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Har bir maktab nimaga "egasi"?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Bozorda har bir raqobatchi ma'lum bir narsaga "egasi". Yangi Davr uchun esa bo'sh joy mavjud.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60320" cy="384048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31720"/>
            <a:ext cx="2560320" cy="457200"/>
          </a:xfrm>
          <a:prstGeom prst="rect">
            <a:avLst/>
          </a:prstGeom>
          <a:solidFill>
            <a:srgbClr val="4A5A5A"/>
          </a:solidFill>
        </p:spPr>
      </p:sp>
      <p:sp>
        <p:nvSpPr>
          <p:cNvPr id="8" name="Text 6"/>
          <p:cNvSpPr/>
          <p:nvPr/>
        </p:nvSpPr>
        <p:spPr>
          <a:xfrm>
            <a:off x="548640" y="23317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BOZOR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MAKTABLAR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447288"/>
            <a:ext cx="365760" cy="36576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11" name="Text 9"/>
          <p:cNvSpPr/>
          <p:nvPr/>
        </p:nvSpPr>
        <p:spPr>
          <a:xfrm>
            <a:off x="731520" y="35661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VA'DASI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"Tekin ta'lim"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49377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UCHUN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51663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 uchun, ammo cheklangan sifat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331720"/>
            <a:ext cx="2560320" cy="384048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2331720"/>
            <a:ext cx="2560320" cy="457200"/>
          </a:xfrm>
          <a:prstGeom prst="rect">
            <a:avLst/>
          </a:prstGeom>
          <a:solidFill>
            <a:srgbClr val="2D8659"/>
          </a:solidFill>
        </p:spPr>
      </p:sp>
      <p:sp>
        <p:nvSpPr>
          <p:cNvPr id="17" name="Text 15"/>
          <p:cNvSpPr/>
          <p:nvPr/>
        </p:nvSpPr>
        <p:spPr>
          <a:xfrm>
            <a:off x="3383280" y="23317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LIDERI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30175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PLATON SCHOOL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66160" y="3447288"/>
            <a:ext cx="365760" cy="36576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20" name="Text 18"/>
          <p:cNvSpPr/>
          <p:nvPr/>
        </p:nvSpPr>
        <p:spPr>
          <a:xfrm>
            <a:off x="3566160" y="35661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VA'DASI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66160" y="37947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"Hammasida kuchli"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566160" y="49377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UCHUN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66160" y="51663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 yo'naltirilgan, hajmga tayanadi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331720"/>
            <a:ext cx="2560320" cy="384048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331720"/>
            <a:ext cx="2560320" cy="457200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26" name="Text 24"/>
          <p:cNvSpPr/>
          <p:nvPr/>
        </p:nvSpPr>
        <p:spPr>
          <a:xfrm>
            <a:off x="6217920" y="23317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RAQIB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30175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ZAMAXSHARIY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447288"/>
            <a:ext cx="365760" cy="36576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29" name="Text 27"/>
          <p:cNvSpPr/>
          <p:nvPr/>
        </p:nvSpPr>
        <p:spPr>
          <a:xfrm>
            <a:off x="6400800" y="35661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VA'DASI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0" y="37947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"6 ta til + sun'iy intellekt"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00800" y="49377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UCHUN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0" y="51663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 tillarga e'tibor bergan ota-onalar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52560" y="2331720"/>
            <a:ext cx="2560320" cy="3840480"/>
          </a:xfrm>
          <a:prstGeom prst="rect">
            <a:avLst/>
          </a:prstGeom>
          <a:solidFill>
            <a:srgbClr val="0F2D2C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52560" y="2331720"/>
            <a:ext cx="2560320" cy="457200"/>
          </a:xfrm>
          <a:prstGeom prst="rect">
            <a:avLst/>
          </a:prstGeom>
          <a:solidFill>
            <a:srgbClr val="C84931"/>
          </a:solidFill>
        </p:spPr>
      </p:sp>
      <p:sp>
        <p:nvSpPr>
          <p:cNvPr id="35" name="Text 33"/>
          <p:cNvSpPr/>
          <p:nvPr/>
        </p:nvSpPr>
        <p:spPr>
          <a:xfrm>
            <a:off x="9052560" y="23317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BO'SH NICHE · SIZGA TEGISHLI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35440" y="30175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235440" y="3447288"/>
            <a:ext cx="365760" cy="36576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38" name="Text 36"/>
          <p:cNvSpPr/>
          <p:nvPr/>
        </p:nvSpPr>
        <p:spPr>
          <a:xfrm>
            <a:off x="9235440" y="35661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VA'DASI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235440" y="37947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"Qadriyatli zamonaviy ta'lim"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235440" y="49377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UCHUN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235440" y="51663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Tarbiya + zamonaviy bilim izlovchi ota-onalar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6355080"/>
            <a:ext cx="11064240" cy="0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43" name="Text 41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Pozitsiyalash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TAHLILI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Kuchli, zaif tomonlar, imkoniyat va tahdidlar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0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2194560"/>
          </a:xfrm>
          <a:prstGeom prst="rect">
            <a:avLst/>
          </a:prstGeom>
          <a:solidFill>
            <a:srgbClr val="2D8659"/>
          </a:solidFill>
          <a:ln w="12700">
            <a:solidFill>
              <a:srgbClr val="2D865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74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TOMONLAR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Qadriyatli ustozlar jamoasi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697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Lokatsiya — Bog'dod tumani markazida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063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Mavjud mijozlar mamnunligi yuqori (~8/10)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429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Aniq USP shakllantirish uchun asos bor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1691640"/>
            <a:ext cx="5486400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1691640"/>
            <a:ext cx="109728" cy="2194560"/>
          </a:xfrm>
          <a:prstGeom prst="rect">
            <a:avLst/>
          </a:prstGeom>
          <a:solidFill>
            <a:srgbClr val="C84931"/>
          </a:solidFill>
          <a:ln w="12700">
            <a:solidFill>
              <a:srgbClr val="C8493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745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49440" y="1874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4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 TOMONLAR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2240" y="2331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Marketing tizimi 0/10 darajada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92240" y="2697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Follow-up tizimi yo'q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92240" y="3063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Instagram'da 196 obunachi (raqobatdan keskin orqada)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92240" y="3429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Brending va kontent strategiyasi shakllanmagan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4023360"/>
            <a:ext cx="5486400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4023360"/>
            <a:ext cx="109728" cy="21945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062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80160" y="42062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IMKONIYATLAR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22960" y="46634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"Qadriyat + zamonaviylik" niche'i bo'sh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22960" y="5029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Tuman ichida lider pozitsiyasini olish mumkin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22960" y="53949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Mavjud mijozlardan tavsiya tizimini ishga tushirish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22960" y="5760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IT, sport, til kurslari — yangi yo'nalishlar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217920" y="4048760"/>
            <a:ext cx="5486400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17920" y="4023360"/>
            <a:ext cx="109728" cy="2194560"/>
          </a:xfrm>
          <a:prstGeom prst="rect">
            <a:avLst/>
          </a:prstGeom>
          <a:solidFill>
            <a:srgbClr val="C28B1F"/>
          </a:solidFill>
          <a:ln w="12700">
            <a:solidFill>
              <a:srgbClr val="C28B1F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206240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49440" y="42062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2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TAHDIDLAR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492240" y="46634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Zamaxshariy o'quvchilarni olib ketmoqda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492240" y="5029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Platon hajm bilan bozorni egallayapti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492240" y="53924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Kadrlar berqarorligi mavjud mijozlarni bezovta qilmoqda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SWOT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TO'SIQLAR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Hozir o'sishni to'xtatayotgan 5 ta omil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77240" cy="777240"/>
          </a:xfrm>
          <a:prstGeom prst="rect">
            <a:avLst/>
          </a:prstGeom>
          <a:solidFill>
            <a:srgbClr val="0F2D2C"/>
          </a:solidFill>
          <a:ln w="12700">
            <a:solidFill>
              <a:srgbClr val="0F2D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tizimi mavjud emas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08760" y="2084832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Reklama, kontent, SMM jamoasi yo'q. Mavjud Instagram passiv.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509760" y="1920240"/>
            <a:ext cx="1828800" cy="320040"/>
          </a:xfrm>
          <a:prstGeom prst="rect">
            <a:avLst/>
          </a:prstGeom>
          <a:solidFill>
            <a:srgbClr val="C84931"/>
          </a:solidFill>
          <a:ln w="12700">
            <a:solidFill>
              <a:srgbClr val="C849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0" y="19202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yo'qotish: Eng yuqori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64240" cy="77724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578608"/>
            <a:ext cx="777240" cy="777240"/>
          </a:xfrm>
          <a:prstGeom prst="rect">
            <a:avLst/>
          </a:prstGeom>
          <a:solidFill>
            <a:srgbClr val="0F2D2C"/>
          </a:solidFill>
          <a:ln w="12700">
            <a:solidFill>
              <a:srgbClr val="0F2D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7860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508760" y="2670048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va CRM yo'q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508760" y="2971800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Liddan to'lovgacha jarayon kuzatilmaydi. Sotuv qaysi bosqichda yo'qotiladi — ma'lum emas.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09760" y="2807208"/>
            <a:ext cx="1828800" cy="320040"/>
          </a:xfrm>
          <a:prstGeom prst="rect">
            <a:avLst/>
          </a:prstGeom>
          <a:solidFill>
            <a:srgbClr val="C28B1F"/>
          </a:solidFill>
          <a:ln w="12700">
            <a:solidFill>
              <a:srgbClr val="C28B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280720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yo'qotish: Yuqori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65576"/>
            <a:ext cx="11064240" cy="77724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465576"/>
            <a:ext cx="777240" cy="777240"/>
          </a:xfrm>
          <a:prstGeom prst="rect">
            <a:avLst/>
          </a:prstGeom>
          <a:solidFill>
            <a:srgbClr val="0F2D2C"/>
          </a:solidFill>
          <a:ln w="12700">
            <a:solidFill>
              <a:srgbClr val="0F2D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65576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508760" y="3557016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aniq aytilmagan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08760" y="385876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Brending mavjud, lekin "nima uchun aynan Yangi Davr?" savoliga aniq javob yo'q.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09760" y="3694176"/>
            <a:ext cx="1828800" cy="320040"/>
          </a:xfrm>
          <a:prstGeom prst="rect">
            <a:avLst/>
          </a:prstGeom>
          <a:solidFill>
            <a:srgbClr val="C28B1F"/>
          </a:solidFill>
          <a:ln w="12700">
            <a:solidFill>
              <a:srgbClr val="C28B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369417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yo'qotish: Yuqori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352544"/>
            <a:ext cx="11064240" cy="77724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352544"/>
            <a:ext cx="777240" cy="777240"/>
          </a:xfrm>
          <a:prstGeom prst="rect">
            <a:avLst/>
          </a:prstGeom>
          <a:solidFill>
            <a:srgbClr val="0F2D2C"/>
          </a:solidFill>
          <a:ln w="12700">
            <a:solidFill>
              <a:srgbClr val="0F2D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352544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508760" y="4443984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Kadrlar berqarorligi muammosi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508760" y="4745736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O'qituvchilar tez o'zgarmoqda — bu mavjud mijozlarni xavotirga solmoqda.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509760" y="4581144"/>
            <a:ext cx="182880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0" y="4581144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yo'qotish: O'rtacha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239512"/>
            <a:ext cx="11064240" cy="77724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5239512"/>
            <a:ext cx="777240" cy="777240"/>
          </a:xfrm>
          <a:prstGeom prst="rect">
            <a:avLst/>
          </a:prstGeom>
          <a:solidFill>
            <a:srgbClr val="0F2D2C"/>
          </a:solidFill>
          <a:ln w="12700">
            <a:solidFill>
              <a:srgbClr val="0F2D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239512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5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1508760" y="5330952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kanali ishlamayapti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508760" y="5632704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sinf ota-onalarining 60% Telegram orqali ma'lumot izlamoqda, ammo kanal nofaol.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509760" y="5468112"/>
            <a:ext cx="182880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0" y="54681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yo'qotish: O'rtacha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Asosiy to'siqlar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3" name="Text 1"/>
          <p:cNvSpPr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OYLIK YOZGI MISSIYA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250 ta yangi o'quvchi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9C7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Iyun – Iyul – Avgust 2026   ·   Performance Marketing orqali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365760" cy="36576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7" name="Text 5"/>
          <p:cNvSpPr/>
          <p:nvPr/>
        </p:nvSpPr>
        <p:spPr>
          <a:xfrm>
            <a:off x="822960" y="32461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OYLIK TAQSIMOT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3520440" cy="2194560"/>
          </a:xfrm>
          <a:prstGeom prst="rect">
            <a:avLst/>
          </a:prstGeom>
          <a:solidFill>
            <a:srgbClr val="16403E"/>
          </a:solidFill>
        </p:spPr>
      </p:sp>
      <p:sp>
        <p:nvSpPr>
          <p:cNvPr id="9" name="Shape 7"/>
          <p:cNvSpPr/>
          <p:nvPr/>
        </p:nvSpPr>
        <p:spPr>
          <a:xfrm>
            <a:off x="822960" y="3657600"/>
            <a:ext cx="3520440" cy="54864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10" name="Text 8"/>
          <p:cNvSpPr/>
          <p:nvPr/>
        </p:nvSpPr>
        <p:spPr>
          <a:xfrm>
            <a:off x="1097280" y="393192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29768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60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1097280" y="5120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o'quvchi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544068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Tizimni ishga tushirish, birinchi reklamalar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99432" y="3657600"/>
            <a:ext cx="3520440" cy="2194560"/>
          </a:xfrm>
          <a:prstGeom prst="rect">
            <a:avLst/>
          </a:prstGeom>
          <a:solidFill>
            <a:srgbClr val="16403E"/>
          </a:solidFill>
        </p:spPr>
      </p:sp>
      <p:sp>
        <p:nvSpPr>
          <p:cNvPr id="15" name="Shape 13"/>
          <p:cNvSpPr/>
          <p:nvPr/>
        </p:nvSpPr>
        <p:spPr>
          <a:xfrm>
            <a:off x="4599432" y="3657600"/>
            <a:ext cx="3520440" cy="54864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16" name="Text 14"/>
          <p:cNvSpPr/>
          <p:nvPr/>
        </p:nvSpPr>
        <p:spPr>
          <a:xfrm>
            <a:off x="4873752" y="393192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IYUL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73752" y="429768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100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4873752" y="5120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o'quvchi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3752" y="544068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faol oy — bloger va target reklama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75904" y="3657600"/>
            <a:ext cx="3520440" cy="2194560"/>
          </a:xfrm>
          <a:prstGeom prst="rect">
            <a:avLst/>
          </a:prstGeom>
          <a:solidFill>
            <a:srgbClr val="16403E"/>
          </a:solidFill>
        </p:spPr>
      </p:sp>
      <p:sp>
        <p:nvSpPr>
          <p:cNvPr id="21" name="Shape 19"/>
          <p:cNvSpPr/>
          <p:nvPr/>
        </p:nvSpPr>
        <p:spPr>
          <a:xfrm>
            <a:off x="8375904" y="3657600"/>
            <a:ext cx="3520440" cy="54864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22" name="Text 20"/>
          <p:cNvSpPr/>
          <p:nvPr/>
        </p:nvSpPr>
        <p:spPr>
          <a:xfrm>
            <a:off x="8650224" y="393192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AVGUST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50224" y="429768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90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8650224" y="5120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o'quvchi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50224" y="544068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qabul to'lqini, qabul yopilishigacha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maqsadga erishish — tizim, jamoa va aniq xarajat rejasi bilan mumkin.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MAQSADGA ERISHISH UCHUN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250 o'quvchini olib kelish — 4 ta ustun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maqsad faqat reklamaga pul tashlash bilan amalga oshmaydi. Quyidagi 4 ta tizim parallel ishlashi kerak.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560320" cy="384048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51760"/>
            <a:ext cx="731520" cy="731520"/>
          </a:xfrm>
          <a:prstGeom prst="ellipse">
            <a:avLst/>
          </a:prstGeom>
          <a:solidFill>
            <a:srgbClr val="00897B"/>
          </a:solidFill>
        </p:spPr>
      </p:sp>
      <p:sp>
        <p:nvSpPr>
          <p:cNvPr id="8" name="Text 6"/>
          <p:cNvSpPr/>
          <p:nvPr/>
        </p:nvSpPr>
        <p:spPr>
          <a:xfrm>
            <a:off x="777240" y="26517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FOUNDATION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Ishonchli brend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4572000"/>
            <a:ext cx="365760" cy="36576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12" name="Text 10"/>
          <p:cNvSpPr/>
          <p:nvPr/>
        </p:nvSpPr>
        <p:spPr>
          <a:xfrm>
            <a:off x="777240" y="475488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pozitsiya, sifatli Instagram va Telegram, ota-ona sharhlari, USP — "Qadriyatli zamonaviy ta'lim".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0" y="2377440"/>
            <a:ext cx="2560320" cy="384048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11880" y="2651760"/>
            <a:ext cx="731520" cy="731520"/>
          </a:xfrm>
          <a:prstGeom prst="ellipse">
            <a:avLst/>
          </a:prstGeom>
          <a:solidFill>
            <a:srgbClr val="E8743C"/>
          </a:solidFill>
        </p:spPr>
      </p:sp>
      <p:sp>
        <p:nvSpPr>
          <p:cNvPr id="15" name="Text 13"/>
          <p:cNvSpPr/>
          <p:nvPr/>
        </p:nvSpPr>
        <p:spPr>
          <a:xfrm>
            <a:off x="3611880" y="26517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611880" y="35204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ENGINE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11880" y="374904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Kuchli marketing tizimi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11880" y="4572000"/>
            <a:ext cx="365760" cy="36576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19" name="Text 17"/>
          <p:cNvSpPr/>
          <p:nvPr/>
        </p:nvSpPr>
        <p:spPr>
          <a:xfrm>
            <a:off x="3611880" y="475488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 kontent kalendari, Reels strategiyasi, ota-ona video-sharhlari, sahna ortidagi kontent.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377440"/>
            <a:ext cx="2560320" cy="384048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2651760"/>
            <a:ext cx="731520" cy="731520"/>
          </a:xfrm>
          <a:prstGeom prst="ellipse">
            <a:avLst/>
          </a:prstGeom>
          <a:solidFill>
            <a:srgbClr val="D4A437"/>
          </a:solidFill>
        </p:spPr>
      </p:sp>
      <p:sp>
        <p:nvSpPr>
          <p:cNvPr id="22" name="Text 20"/>
          <p:cNvSpPr/>
          <p:nvPr/>
        </p:nvSpPr>
        <p:spPr>
          <a:xfrm>
            <a:off x="6446520" y="26517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446520" y="35204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FUNNEL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46520" y="374904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2-bosqichli sotuv tizimi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46520" y="4572000"/>
            <a:ext cx="365760" cy="36576"/>
          </a:xfrm>
          <a:prstGeom prst="rect">
            <a:avLst/>
          </a:prstGeom>
          <a:solidFill>
            <a:srgbClr val="D4A437"/>
          </a:solidFill>
        </p:spPr>
      </p:sp>
      <p:sp>
        <p:nvSpPr>
          <p:cNvPr id="26" name="Text 24"/>
          <p:cNvSpPr/>
          <p:nvPr/>
        </p:nvSpPr>
        <p:spPr>
          <a:xfrm>
            <a:off x="6446520" y="475488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operator (lidni qabul qilish, asosiy savollar) + Sales manager (uchrashuv, bitim yopish).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52560" y="2377440"/>
            <a:ext cx="2560320" cy="384048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281160" y="2651760"/>
            <a:ext cx="731520" cy="731520"/>
          </a:xfrm>
          <a:prstGeom prst="ellipse">
            <a:avLst/>
          </a:prstGeom>
          <a:solidFill>
            <a:srgbClr val="C84931"/>
          </a:solidFill>
        </p:spPr>
      </p:sp>
      <p:sp>
        <p:nvSpPr>
          <p:cNvPr id="29" name="Text 27"/>
          <p:cNvSpPr/>
          <p:nvPr/>
        </p:nvSpPr>
        <p:spPr>
          <a:xfrm>
            <a:off x="9281160" y="26517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281160" y="35204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4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SOURCE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281160" y="374904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To'lov reklama kanali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281160" y="4572000"/>
            <a:ext cx="365760" cy="36576"/>
          </a:xfrm>
          <a:prstGeom prst="rect">
            <a:avLst/>
          </a:prstGeom>
          <a:solidFill>
            <a:srgbClr val="C84931"/>
          </a:solidFill>
        </p:spPr>
      </p:sp>
      <p:sp>
        <p:nvSpPr>
          <p:cNvPr id="33" name="Text 31"/>
          <p:cNvSpPr/>
          <p:nvPr/>
        </p:nvSpPr>
        <p:spPr>
          <a:xfrm>
            <a:off x="9281160" y="475488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target reklama (Bog'dod tumani fokusi) + mahalliy blogerlar bilan integratsiya.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4 ta ustun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TIZIMI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Reklamadan o'quvchigacha — 2 bosqichli voronka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bosqich aniq vazifaga ega. Maqsad — har bir lidni shartnomagacha olib borish!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103120" cy="36576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77440"/>
            <a:ext cx="2103120" cy="502920"/>
          </a:xfrm>
          <a:prstGeom prst="rect">
            <a:avLst/>
          </a:prstGeom>
          <a:solidFill>
            <a:srgbClr val="C84931"/>
          </a:solidFill>
        </p:spPr>
      </p:sp>
      <p:sp>
        <p:nvSpPr>
          <p:cNvPr id="8" name="Text 6"/>
          <p:cNvSpPr/>
          <p:nvPr/>
        </p:nvSpPr>
        <p:spPr>
          <a:xfrm>
            <a:off x="548640" y="246888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26243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+ BLOGER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493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500,000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ko'rishlar / mavaum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4251960"/>
            <a:ext cx="822960" cy="27432"/>
          </a:xfrm>
          <a:prstGeom prst="rect">
            <a:avLst/>
          </a:prstGeom>
          <a:solidFill>
            <a:srgbClr val="E8E2D2"/>
          </a:solidFill>
        </p:spPr>
      </p:sp>
      <p:sp>
        <p:nvSpPr>
          <p:cNvPr id="13" name="Text 11"/>
          <p:cNvSpPr/>
          <p:nvPr/>
        </p:nvSpPr>
        <p:spPr>
          <a:xfrm>
            <a:off x="640080" y="43434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C84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trafik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470916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Bog'dod tumani target reklama va blogerlar bilan integratsiya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329184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816352" y="2377440"/>
            <a:ext cx="2103120" cy="36576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16352" y="2377440"/>
            <a:ext cx="2103120" cy="502920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18" name="Text 16"/>
          <p:cNvSpPr/>
          <p:nvPr/>
        </p:nvSpPr>
        <p:spPr>
          <a:xfrm>
            <a:off x="2816352" y="246888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/ QO'NG'IROQ / FORMA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816352" y="26243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07792" y="306324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7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3000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907792" y="3886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 / mavsum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56432" y="4251960"/>
            <a:ext cx="822960" cy="27432"/>
          </a:xfrm>
          <a:prstGeom prst="rect">
            <a:avLst/>
          </a:prstGeom>
          <a:solidFill>
            <a:srgbClr val="E8E2D2"/>
          </a:solidFill>
        </p:spPr>
      </p:sp>
      <p:sp>
        <p:nvSpPr>
          <p:cNvPr id="23" name="Text 21"/>
          <p:cNvSpPr/>
          <p:nvPr/>
        </p:nvSpPr>
        <p:spPr>
          <a:xfrm>
            <a:off x="2907792" y="43434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53512" y="470916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Reklamadan kelgan ota-ona bog'lanadi, raqami yoziladi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82312" y="329184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084064" y="2377440"/>
            <a:ext cx="2103120" cy="36576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84064" y="2377440"/>
            <a:ext cx="2103120" cy="502920"/>
          </a:xfrm>
          <a:prstGeom prst="rect">
            <a:avLst/>
          </a:prstGeom>
          <a:solidFill>
            <a:srgbClr val="C28B1F"/>
          </a:solidFill>
        </p:spPr>
      </p:sp>
      <p:sp>
        <p:nvSpPr>
          <p:cNvPr id="28" name="Text 26"/>
          <p:cNvSpPr/>
          <p:nvPr/>
        </p:nvSpPr>
        <p:spPr>
          <a:xfrm>
            <a:off x="5084064" y="246888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1-BOSQICH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84064" y="26243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OPERATOR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75504" y="306324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28B1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2500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175504" y="3886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uchrashuv / hafta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24144" y="4251960"/>
            <a:ext cx="822960" cy="27432"/>
          </a:xfrm>
          <a:prstGeom prst="rect">
            <a:avLst/>
          </a:prstGeom>
          <a:solidFill>
            <a:srgbClr val="E8E2D2"/>
          </a:solidFill>
        </p:spPr>
      </p:sp>
      <p:sp>
        <p:nvSpPr>
          <p:cNvPr id="33" name="Text 31"/>
          <p:cNvSpPr/>
          <p:nvPr/>
        </p:nvSpPr>
        <p:spPr>
          <a:xfrm>
            <a:off x="5175504" y="43434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C2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saralash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21224" y="470916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qo'ng'iroq, asosiy savollar, mos kelishni aniqlash, uchrashuv belgilash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50024" y="329184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351776" y="2377440"/>
            <a:ext cx="2103120" cy="36576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51776" y="2377440"/>
            <a:ext cx="2103120" cy="50292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38" name="Text 36"/>
          <p:cNvSpPr/>
          <p:nvPr/>
        </p:nvSpPr>
        <p:spPr>
          <a:xfrm>
            <a:off x="7351776" y="246888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2-BOSQICH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351776" y="26243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43216" y="306324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89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500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7443216" y="3886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yozilish / 3 oy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91856" y="4251960"/>
            <a:ext cx="822960" cy="27432"/>
          </a:xfrm>
          <a:prstGeom prst="rect">
            <a:avLst/>
          </a:prstGeom>
          <a:solidFill>
            <a:srgbClr val="E8E2D2"/>
          </a:solidFill>
        </p:spPr>
      </p:sp>
      <p:sp>
        <p:nvSpPr>
          <p:cNvPr id="43" name="Text 41"/>
          <p:cNvSpPr/>
          <p:nvPr/>
        </p:nvSpPr>
        <p:spPr>
          <a:xfrm>
            <a:off x="7443216" y="43434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yopilish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88936" y="470916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Maktabga taklif, ekskursiya, batafsil suhbat, bitim yopish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317736" y="329184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9619488" y="2377440"/>
            <a:ext cx="2103120" cy="36576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619488" y="2377440"/>
            <a:ext cx="2103120" cy="502920"/>
          </a:xfrm>
          <a:prstGeom prst="rect">
            <a:avLst/>
          </a:prstGeom>
          <a:solidFill>
            <a:srgbClr val="0F2D2C"/>
          </a:solidFill>
        </p:spPr>
      </p:sp>
      <p:sp>
        <p:nvSpPr>
          <p:cNvPr id="48" name="Text 46"/>
          <p:cNvSpPr/>
          <p:nvPr/>
        </p:nvSpPr>
        <p:spPr>
          <a:xfrm>
            <a:off x="9619488" y="246888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9619488" y="26243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O'QUVCHI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710928" y="306324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250</a:t>
            </a:r>
            <a:endParaRPr lang="en-US" sz="3600" dirty="0"/>
          </a:p>
        </p:txBody>
      </p:sp>
      <p:sp>
        <p:nvSpPr>
          <p:cNvPr id="51" name="Text 49"/>
          <p:cNvSpPr/>
          <p:nvPr/>
        </p:nvSpPr>
        <p:spPr>
          <a:xfrm>
            <a:off x="9710928" y="3886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/ 3 oy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259568" y="4251960"/>
            <a:ext cx="822960" cy="27432"/>
          </a:xfrm>
          <a:prstGeom prst="rect">
            <a:avLst/>
          </a:prstGeom>
          <a:solidFill>
            <a:srgbClr val="E8E2D2"/>
          </a:solidFill>
        </p:spPr>
      </p:sp>
      <p:sp>
        <p:nvSpPr>
          <p:cNvPr id="53" name="Text 51"/>
          <p:cNvSpPr/>
          <p:nvPr/>
        </p:nvSpPr>
        <p:spPr>
          <a:xfrm>
            <a:off x="9710928" y="43434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natija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756648" y="470916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hujjatlar, to'lov, o'qishni boshlash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8640" y="6263640"/>
            <a:ext cx="11064240" cy="0"/>
          </a:xfrm>
          <a:prstGeom prst="rect">
            <a:avLst/>
          </a:prstGeom>
          <a:solidFill>
            <a:srgbClr val="0F2D2C"/>
          </a:solidFill>
        </p:spPr>
      </p:sp>
      <p:sp>
        <p:nvSpPr>
          <p:cNvPr id="56" name="Text 5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Sotuv voronkasi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STRATEJIK TAVSIYALAR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Marketing va sotuvni qurish uchun 6 ta yo'nalish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93592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731520" cy="731520"/>
          </a:xfrm>
          <a:prstGeom prst="ellipse">
            <a:avLst/>
          </a:prstGeom>
          <a:solidFill>
            <a:srgbClr val="EAF5F0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3464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pozitsiyalash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USP'ni har bir kontentda takrorlash: "Qadriyatli zamonaviy ta'lim".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1691640"/>
            <a:ext cx="3593592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1965960"/>
            <a:ext cx="731520" cy="731520"/>
          </a:xfrm>
          <a:prstGeom prst="ellipse">
            <a:avLst/>
          </a:prstGeom>
          <a:solidFill>
            <a:srgbClr val="EAF5F0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148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283464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strategiyasi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99432" y="320040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 kontent kalendari: Reels (savol-hook), natijalar, ota-ona sharhlari.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1691640"/>
            <a:ext cx="3593592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75904" y="1965960"/>
            <a:ext cx="731520" cy="731520"/>
          </a:xfrm>
          <a:prstGeom prst="ellipse">
            <a:avLst/>
          </a:prstGeom>
          <a:solidFill>
            <a:srgbClr val="EAF5F0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1488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283464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mijozlardan bilan o'sish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75904" y="320040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Tavsiya tizimi: mijoz olib kelgan har bir yangi o'quvchi uchun chegirma/bonus.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023360"/>
            <a:ext cx="3593592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297680"/>
            <a:ext cx="731520" cy="731520"/>
          </a:xfrm>
          <a:prstGeom prst="ellipse">
            <a:avLst/>
          </a:prstGeom>
          <a:solidFill>
            <a:srgbClr val="EAF5F0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805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" y="516636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tizimini qurish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22960" y="553212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follow-up shabloni, har bir lid uchun 3-7 kunlik kontakt zanjiri.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5112" y="4023360"/>
            <a:ext cx="3593592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9432" y="4297680"/>
            <a:ext cx="731520" cy="731520"/>
          </a:xfrm>
          <a:prstGeom prst="ellipse">
            <a:avLst/>
          </a:prstGeom>
          <a:solidFill>
            <a:srgbClr val="EAF5F0"/>
          </a:solidFill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44805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99432" y="516636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Reklamani ishga tushirish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99432" y="553212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Bog'dod tumani lokal target reklama — kichik byudjet, aniq hudud.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01584" y="4048760"/>
            <a:ext cx="3593592" cy="219456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75904" y="4297680"/>
            <a:ext cx="731520" cy="731520"/>
          </a:xfrm>
          <a:prstGeom prst="ellipse">
            <a:avLst/>
          </a:prstGeom>
          <a:solidFill>
            <a:srgbClr val="EAF5F0"/>
          </a:solidFill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448056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75904" y="516636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Kadrlarni saqlash dasturi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75904" y="553212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O'qituvchilar uchun motivatsiya tizimi — bu mijoz xavotirini hal qiladi.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Stratejik tavsiyalar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AMALGA OSHIRISH REJASI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2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Yozgi 3 oy — bosqichma-bosqich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93592" cy="45720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593592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30449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IYUN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Tizimni qurish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8892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743200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Brending va USP yakuniy shakli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5584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310128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Telegram qayta yo'lga qo'yish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22776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877056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operator + Sales manager yollash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8970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4443984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reklama kabineti va sozlamalar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56632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5010912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bloger bilan shartnoma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835660" y="5806440"/>
            <a:ext cx="3044952" cy="365760"/>
          </a:xfrm>
          <a:prstGeom prst="rect">
            <a:avLst/>
          </a:prstGeom>
          <a:solidFill>
            <a:srgbClr val="F0EBE0"/>
          </a:solidFill>
        </p:spPr>
        <p:txBody>
          <a:bodyPr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822960" y="580644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tizim qurish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4325112" y="1691640"/>
            <a:ext cx="3593592" cy="45720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325112" y="1691640"/>
            <a:ext cx="3593592" cy="82296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599432" y="1783080"/>
            <a:ext cx="30449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IYUL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4599432" y="219456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Maksimal trafik</a:t>
            </a:r>
            <a:endParaRPr lang="en-US" sz="12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78892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19472" y="2743200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target reklama to'liq quvvatda</a:t>
            </a:r>
            <a:endParaRPr lang="en-US" sz="10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3355848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19472" y="3310128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Bloger postlari haftalik chiqarish</a:t>
            </a:r>
            <a:endParaRPr lang="en-US" sz="10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3922776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19472" y="3877056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Haftada 3 ta Reels va 2 ta blog post</a:t>
            </a:r>
            <a:endParaRPr lang="en-US" sz="105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4489704"/>
            <a:ext cx="228600" cy="2286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919472" y="4443984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Ota-onalardan video-sharhlar</a:t>
            </a:r>
            <a:endParaRPr lang="en-US" sz="105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5056632"/>
            <a:ext cx="228600" cy="2286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919472" y="5010912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voronkasi konversiyasi nazorat</a:t>
            </a:r>
            <a:endParaRPr lang="en-US" sz="1050" dirty="0"/>
          </a:p>
        </p:txBody>
      </p:sp>
      <p:sp>
        <p:nvSpPr>
          <p:cNvPr id="35" name="Shape 23"/>
          <p:cNvSpPr/>
          <p:nvPr/>
        </p:nvSpPr>
        <p:spPr>
          <a:xfrm>
            <a:off x="4599432" y="5806440"/>
            <a:ext cx="3044952" cy="365760"/>
          </a:xfrm>
          <a:prstGeom prst="rect">
            <a:avLst/>
          </a:prstGeom>
          <a:solidFill>
            <a:srgbClr val="F0EBE0"/>
          </a:solidFill>
        </p:spPr>
      </p:sp>
      <p:sp>
        <p:nvSpPr>
          <p:cNvPr id="36" name="Text 24"/>
          <p:cNvSpPr/>
          <p:nvPr/>
        </p:nvSpPr>
        <p:spPr>
          <a:xfrm>
            <a:off x="4599432" y="580644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100 o'quvchi</a:t>
            </a:r>
            <a:endParaRPr lang="en-US" sz="1050" dirty="0"/>
          </a:p>
        </p:txBody>
      </p:sp>
      <p:sp>
        <p:nvSpPr>
          <p:cNvPr id="37" name="Shape 25"/>
          <p:cNvSpPr/>
          <p:nvPr/>
        </p:nvSpPr>
        <p:spPr>
          <a:xfrm>
            <a:off x="8101584" y="1691640"/>
            <a:ext cx="3593592" cy="4572000"/>
          </a:xfrm>
          <a:prstGeom prst="rect">
            <a:avLst/>
          </a:prstGeom>
          <a:solidFill>
            <a:srgbClr val="FFFFFF"/>
          </a:solidFill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26"/>
          <p:cNvSpPr/>
          <p:nvPr/>
        </p:nvSpPr>
        <p:spPr>
          <a:xfrm>
            <a:off x="8101584" y="1691640"/>
            <a:ext cx="3593592" cy="822960"/>
          </a:xfrm>
          <a:prstGeom prst="rect">
            <a:avLst/>
          </a:prstGeom>
          <a:solidFill>
            <a:srgbClr val="0F2D2C"/>
          </a:solidFill>
          <a:ln w="12700">
            <a:solidFill>
              <a:srgbClr val="0F2D2C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8375904" y="1783080"/>
            <a:ext cx="30449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AVGUST</a:t>
            </a:r>
            <a:endParaRPr lang="en-US" sz="2200" dirty="0"/>
          </a:p>
        </p:txBody>
      </p:sp>
      <p:sp>
        <p:nvSpPr>
          <p:cNvPr id="40" name="Text 28"/>
          <p:cNvSpPr/>
          <p:nvPr/>
        </p:nvSpPr>
        <p:spPr>
          <a:xfrm>
            <a:off x="8375904" y="219456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yopilishi</a:t>
            </a:r>
            <a:endParaRPr lang="en-US" sz="12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4" y="2788920"/>
            <a:ext cx="228600" cy="22860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8695944" y="2743200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"Oxirgi joylar" kampaniyasi</a:t>
            </a:r>
            <a:endParaRPr lang="en-US" sz="105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4" y="3355848"/>
            <a:ext cx="228600" cy="22860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8695944" y="3310128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yopilishi taymeri reklamada</a:t>
            </a:r>
            <a:endParaRPr lang="en-US" sz="1050" dirty="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4" y="3922776"/>
            <a:ext cx="228600" cy="22860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8695944" y="3877056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Maktabga ekskursiya kunlari (open day)</a:t>
            </a:r>
            <a:endParaRPr lang="en-US" sz="1050" dirty="0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4" y="4489704"/>
            <a:ext cx="228600" cy="228600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8695944" y="4443984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Joriy mijozlardan tavsiya kampaniyasi</a:t>
            </a:r>
            <a:endParaRPr lang="en-US" sz="1050" dirty="0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4" y="5056632"/>
            <a:ext cx="228600" cy="228600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8695944" y="5010912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 va keyingi yil rejasi</a:t>
            </a:r>
            <a:endParaRPr lang="en-US" sz="1050" dirty="0"/>
          </a:p>
        </p:txBody>
      </p:sp>
      <p:sp>
        <p:nvSpPr>
          <p:cNvPr id="51" name="Shape 34"/>
          <p:cNvSpPr/>
          <p:nvPr/>
        </p:nvSpPr>
        <p:spPr>
          <a:xfrm>
            <a:off x="8375904" y="5806440"/>
            <a:ext cx="3044952" cy="365760"/>
          </a:xfrm>
          <a:prstGeom prst="rect">
            <a:avLst/>
          </a:prstGeom>
          <a:solidFill>
            <a:srgbClr val="F0EBE0"/>
          </a:solidFill>
        </p:spPr>
      </p:sp>
      <p:sp>
        <p:nvSpPr>
          <p:cNvPr id="52" name="Text 35"/>
          <p:cNvSpPr/>
          <p:nvPr/>
        </p:nvSpPr>
        <p:spPr>
          <a:xfrm>
            <a:off x="8375904" y="580644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F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150 o'quvchi</a:t>
            </a:r>
            <a:endParaRPr lang="en-US" sz="1050" dirty="0"/>
          </a:p>
        </p:txBody>
      </p:sp>
      <p:sp>
        <p:nvSpPr>
          <p:cNvPr id="53" name="Text 36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Davr · Marketing Audit Report   ·   Yo'l xaritasi</a:t>
            </a:r>
            <a:endParaRPr lang="en-US" sz="800" dirty="0"/>
          </a:p>
        </p:txBody>
      </p:sp>
      <p:sp>
        <p:nvSpPr>
          <p:cNvPr id="54" name="Text 37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XULOSA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 oy. 4 ta ustun.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250 ta yangi o'quvchi.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C9C7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Brend · Marketing tizimi · 2-bosqichli sotuv · Meta va bloger reklama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3520440" cy="1463040"/>
          </a:xfrm>
          <a:prstGeom prst="rect">
            <a:avLst/>
          </a:prstGeom>
          <a:solidFill>
            <a:srgbClr val="16403E"/>
          </a:solidFill>
        </p:spPr>
      </p:sp>
      <p:sp>
        <p:nvSpPr>
          <p:cNvPr id="7" name="Shape 5"/>
          <p:cNvSpPr/>
          <p:nvPr/>
        </p:nvSpPr>
        <p:spPr>
          <a:xfrm>
            <a:off x="822960" y="4297680"/>
            <a:ext cx="3520440" cy="54864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8" name="Text 6"/>
          <p:cNvSpPr/>
          <p:nvPr/>
        </p:nvSpPr>
        <p:spPr>
          <a:xfrm>
            <a:off x="1051560" y="44348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Tizim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51560" y="52120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54589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IYUN — tizim ishga tushdi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99432" y="4297680"/>
            <a:ext cx="3520440" cy="1463040"/>
          </a:xfrm>
          <a:prstGeom prst="rect">
            <a:avLst/>
          </a:prstGeom>
          <a:solidFill>
            <a:srgbClr val="16403E"/>
          </a:solidFill>
        </p:spPr>
      </p:sp>
      <p:sp>
        <p:nvSpPr>
          <p:cNvPr id="12" name="Shape 10"/>
          <p:cNvSpPr/>
          <p:nvPr/>
        </p:nvSpPr>
        <p:spPr>
          <a:xfrm>
            <a:off x="4599432" y="4297680"/>
            <a:ext cx="3520440" cy="54864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13" name="Text 11"/>
          <p:cNvSpPr/>
          <p:nvPr/>
        </p:nvSpPr>
        <p:spPr>
          <a:xfrm>
            <a:off x="4828032" y="44348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828032" y="52120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o'quvchi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54589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IYUL — eng faol oy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75904" y="4297680"/>
            <a:ext cx="3520440" cy="1463040"/>
          </a:xfrm>
          <a:prstGeom prst="rect">
            <a:avLst/>
          </a:prstGeom>
          <a:solidFill>
            <a:srgbClr val="16403E"/>
          </a:solidFill>
        </p:spPr>
      </p:sp>
      <p:sp>
        <p:nvSpPr>
          <p:cNvPr id="17" name="Shape 15"/>
          <p:cNvSpPr/>
          <p:nvPr/>
        </p:nvSpPr>
        <p:spPr>
          <a:xfrm>
            <a:off x="8375904" y="4297680"/>
            <a:ext cx="3520440" cy="54864"/>
          </a:xfrm>
          <a:prstGeom prst="rect">
            <a:avLst/>
          </a:prstGeom>
          <a:solidFill>
            <a:srgbClr val="E8743C"/>
          </a:solidFill>
        </p:spPr>
      </p:sp>
      <p:sp>
        <p:nvSpPr>
          <p:cNvPr id="18" name="Text 16"/>
          <p:cNvSpPr/>
          <p:nvPr/>
        </p:nvSpPr>
        <p:spPr>
          <a:xfrm>
            <a:off x="8604504" y="44348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150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8604504" y="52120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o'quvchi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04504" y="54589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AVGUST — qabul yopilishi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F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Audit Report  ·  30 May,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11859</Words>
  <Application>WPS Sheets</Application>
  <PresentationFormat>On-screen Show (16:9)</PresentationFormat>
  <Paragraphs>985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Georgia</vt:lpstr>
      <vt:lpstr>Georgia</vt:lpstr>
      <vt:lpstr>Georgia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Yangi Davr — Marketing Audit &amp; Strategy</dc:title>
  <dc:creator>Marketing Audit Report</dc:creator>
  <dc:subject>PptxGenJS Presentation</dc:subject>
  <cp:lastModifiedBy>kadirov_od</cp:lastModifiedBy>
  <cp:revision>2</cp:revision>
  <dcterms:created xsi:type="dcterms:W3CDTF">2026-05-30T05:54:25Z</dcterms:created>
  <dcterms:modified xsi:type="dcterms:W3CDTF">2026-05-30T05:54:25Z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1033-12.1.25880.25880</vt:lpwstr>
  </property>
  <property fmtid="{D5CDD505-2E9C-101B-9397-08002B2CF9AE}" pid="3" name="ICV">
    <vt:lpwstr>1D47F2057E37E784917B1A6A7054C343_42</vt:lpwstr>
  </property>
</Properties>
</file>